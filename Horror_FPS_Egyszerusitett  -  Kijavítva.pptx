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6256000" cy="9144000"/>
  <p:notesSz cx="9144000" cy="16256000"/>
  <p:embeddedFontLst>
    <p:embeddedFont>
      <p:font typeface="Liter" panose="020B0604020202020204" charset="0"/>
      <p:regular r:id="rId15"/>
    </p:embeddedFont>
    <p:embeddedFont>
      <p:font typeface="Sorts Mill Goudy" panose="020B0604020202020204" charset="0"/>
      <p:regular r:id="rId16"/>
    </p:embeddedFont>
  </p:embeddedFontLst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3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08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000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16000" y="2286000"/>
            <a:ext cx="6604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48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Horror FPS Játék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1016000" y="4318000"/>
            <a:ext cx="2540000" cy="12700"/>
          </a:xfrm>
          <a:prstGeom prst="rect">
            <a:avLst/>
          </a:prstGeom>
          <a:solidFill>
            <a:srgbClr val="78909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5" name="Text 2"/>
          <p:cNvSpPr/>
          <p:nvPr/>
        </p:nvSpPr>
        <p:spPr>
          <a:xfrm>
            <a:off x="1016000" y="4572000"/>
            <a:ext cx="635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Raycasting Motor Pygame-ben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016000" y="8128000"/>
            <a:ext cx="14224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921501A3-AFA3-FE16-6AEE-58CC65BA0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233" y="1233237"/>
            <a:ext cx="9658994" cy="64169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508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Tartalomjegyzék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016000" y="1206500"/>
            <a:ext cx="14224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1016000" y="1651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200" b="1" dirty="0">
                <a:solidFill>
                  <a:srgbClr val="37474F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01</a:t>
            </a:r>
            <a:r>
              <a:rPr lang="en-US" sz="2200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　　Technológiai alapok — Raycasting motor, pályarendszer, játékosvezérlés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6000" y="2730500"/>
            <a:ext cx="14224000" cy="127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1016000" y="3048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200" b="1" dirty="0">
                <a:solidFill>
                  <a:srgbClr val="37474F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02</a:t>
            </a:r>
            <a:r>
              <a:rPr lang="en-US" sz="2200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　　Játékmechanikák — Ellenségek, harcrendszer, ajtók és zseblámpa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" y="4127500"/>
            <a:ext cx="14224000" cy="127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1016000" y="4445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200" b="1" dirty="0">
                <a:solidFill>
                  <a:srgbClr val="37474F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03</a:t>
            </a:r>
            <a:r>
              <a:rPr lang="en-US" sz="2200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　　Játékarchitektúra — Menürendszer, game loop, renderelési folyamat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16000" y="5524500"/>
            <a:ext cx="14224000" cy="12700"/>
          </a:xfrm>
          <a:prstGeom prst="rect">
            <a:avLst/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1016000" y="5969000"/>
            <a:ext cx="14224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016000" y="8483600"/>
            <a:ext cx="14224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13970000" y="8534400"/>
            <a:ext cx="127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3048000"/>
            <a:ext cx="254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78909C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01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16000" y="3937000"/>
            <a:ext cx="1270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600" b="1" dirty="0">
                <a:solidFill>
                  <a:srgbClr val="FFFFFF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Technológiai alapok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16000" y="4826000"/>
            <a:ext cx="1016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Raycasting motor, pályarendszer és játékosvezérlés működése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6000" y="5461000"/>
            <a:ext cx="2032000" cy="12700"/>
          </a:xfrm>
          <a:prstGeom prst="rect">
            <a:avLst/>
          </a:prstGeom>
          <a:solidFill>
            <a:srgbClr val="78909C"/>
          </a:solidFill>
          <a:ln/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55600"/>
            <a:ext cx="1473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A 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raycasting</a:t>
            </a: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 motor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91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4" name="Image 0" descr="https://kimi-img.moonshot.cn/pub/slides/okc/js7hbhawhzd4k/mnt/agents/output/horror_fps/images/9_Rendering_Ray_Casting_The_Coding.png"/>
          <p:cNvPicPr>
            <a:picLocks noChangeAspect="1"/>
          </p:cNvPicPr>
          <p:nvPr/>
        </p:nvPicPr>
        <p:blipFill>
          <a:blip r:embed="rId3"/>
          <a:srcRect l="7464" r="7464"/>
          <a:stretch/>
        </p:blipFill>
        <p:spPr>
          <a:xfrm>
            <a:off x="762000" y="1117600"/>
            <a:ext cx="6096000" cy="3556000"/>
          </a:xfrm>
          <a:prstGeom prst="roundRect">
            <a:avLst>
              <a:gd name="adj" fmla="val 4000"/>
            </a:avLst>
          </a:prstGeom>
        </p:spPr>
      </p:pic>
      <p:sp>
        <p:nvSpPr>
          <p:cNvPr id="5" name="Text 2"/>
          <p:cNvSpPr/>
          <p:nvPr/>
        </p:nvSpPr>
        <p:spPr>
          <a:xfrm>
            <a:off x="7112000" y="1117600"/>
            <a:ext cx="83820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cast_rays()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: 720 sugár/frame, z-buffer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Textúrázás: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tex_coord alapján, pygame.transform.scale.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Textúrák: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1=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fal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2=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ajtó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3=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zárolt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Paraméterek: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FOV=60°, 720×480 felbontás, 60 FPS cél.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62000" y="4927600"/>
            <a:ext cx="4572000" cy="1016000"/>
          </a:xfrm>
          <a:prstGeom prst="roundRect">
            <a:avLst>
              <a:gd name="adj" fmla="val 4000"/>
            </a:avLst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965200" y="4978400"/>
            <a:ext cx="25400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720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5200" y="55626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Sugár/frame | DDA algoritmus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588000" y="4927600"/>
            <a:ext cx="4572000" cy="1016000"/>
          </a:xfrm>
          <a:prstGeom prst="roundRect">
            <a:avLst>
              <a:gd name="adj" fmla="val 4000"/>
            </a:avLst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Text 7"/>
          <p:cNvSpPr/>
          <p:nvPr/>
        </p:nvSpPr>
        <p:spPr>
          <a:xfrm>
            <a:off x="5791200" y="4978400"/>
            <a:ext cx="25400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60°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791200" y="55626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FOV (π/3 radián) | Látószög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0414000" y="4927600"/>
            <a:ext cx="5080000" cy="1016000"/>
          </a:xfrm>
          <a:prstGeom prst="roundRect">
            <a:avLst>
              <a:gd name="adj" fmla="val 4000"/>
            </a:avLst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3" name="Text 10"/>
          <p:cNvSpPr/>
          <p:nvPr/>
        </p:nvSpPr>
        <p:spPr>
          <a:xfrm>
            <a:off x="10617200" y="4978400"/>
            <a:ext cx="25400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60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617200" y="5562600"/>
            <a:ext cx="4699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FPS cél | clock.tick(60)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62000" y="6172200"/>
            <a:ext cx="14732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762000" y="853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7" name="Text 14"/>
          <p:cNvSpPr/>
          <p:nvPr/>
        </p:nvSpPr>
        <p:spPr>
          <a:xfrm>
            <a:off x="762000" y="8610600"/>
            <a:ext cx="1016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13970000" y="86106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55600"/>
            <a:ext cx="1473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A </a:t>
            </a:r>
            <a:r>
              <a:rPr lang="hu-HU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Numpy</a:t>
            </a:r>
            <a:r>
              <a:rPr lang="hu-HU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 pálya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91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092200"/>
          <a:ext cx="14732000" cy="3301998"/>
        </p:xfrm>
        <a:graphic>
          <a:graphicData uri="http://schemas.openxmlformats.org/drawingml/2006/table">
            <a:tbl>
              <a:tblPr/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958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Szint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Ellenségek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HP értékek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Pozíciók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Megjegyzés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20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Alsó szint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Enemy, Enemy1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100, 200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(3,15), (9,15)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Kezdőszint, gyenge ellenségek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20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Középső szint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Enemy2, Enemy3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300, 400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(3,12), (9,12)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Közepes nehézség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20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Felső szint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Enemy4, Enemy5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500, 600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(3,8), (9,8)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Erős ellenségek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20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Főellenség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Final Boss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1000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(6,3)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Minden ellenség legyőzése után nyílik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20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Játékos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250 (max 250)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(6, 16.5)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Kezdőpozíció, 250° szög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6096000" y="4597400"/>
            <a:ext cx="9398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Pálya reprezentáció: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world_map NumPy tömb, 1=fal, 0=üres, 2=ajtó, 3=zárolt.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Ütközés: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PLAYER_RADIUS=0.2, is_walkable()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Mozgás: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WASD + egér, can_move() ellenőrzés.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762000" y="7340600"/>
            <a:ext cx="50800" cy="889000"/>
          </a:xfrm>
          <a:prstGeom prst="rect">
            <a:avLst/>
          </a:prstGeom>
          <a:solidFill>
            <a:srgbClr val="37474F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8" name="Text 4"/>
          <p:cNvSpPr/>
          <p:nvPr/>
        </p:nvSpPr>
        <p:spPr>
          <a:xfrm>
            <a:off x="965200" y="7340600"/>
            <a:ext cx="144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/>
          </a:p>
        </p:txBody>
      </p:sp>
      <p:sp>
        <p:nvSpPr>
          <p:cNvPr id="9" name="Shape 5"/>
          <p:cNvSpPr/>
          <p:nvPr/>
        </p:nvSpPr>
        <p:spPr>
          <a:xfrm>
            <a:off x="762000" y="853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Text 6"/>
          <p:cNvSpPr/>
          <p:nvPr/>
        </p:nvSpPr>
        <p:spPr>
          <a:xfrm>
            <a:off x="762000" y="8610600"/>
            <a:ext cx="1016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13970000" y="86106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B6E3ABA5-39EE-68EC-CC04-93265807E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00" y="4574892"/>
            <a:ext cx="4905330" cy="3261008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3048000"/>
            <a:ext cx="254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78909C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02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16000" y="3937000"/>
            <a:ext cx="1270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600" b="1" dirty="0">
                <a:solidFill>
                  <a:srgbClr val="FFFFFF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Játékmechanikák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16000" y="4826000"/>
            <a:ext cx="1143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Ellenségek, harcrendszer, ajtórendszer és zseblámpa effekt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6000" y="5461000"/>
            <a:ext cx="2032000" cy="12700"/>
          </a:xfrm>
          <a:prstGeom prst="rect">
            <a:avLst/>
          </a:prstGeom>
          <a:solidFill>
            <a:srgbClr val="78909C"/>
          </a:solidFill>
          <a:ln/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55600"/>
            <a:ext cx="1473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hu-HU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E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gyedi</a:t>
            </a: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 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ellenség</a:t>
            </a:r>
            <a:r>
              <a:rPr lang="hu-HU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ek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91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4000" y="1117600"/>
          <a:ext cx="8890000" cy="3556000"/>
        </p:xfrm>
        <a:graphic>
          <a:graphicData uri="http://schemas.openxmlformats.org/drawingml/2006/table">
            <a:tbl>
              <a:tblPr/>
              <a:tblGrid>
                <a:gridCol w="195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Ellenség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HP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Pozíció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Textúra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(3, 15)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enemy_idle.png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Enemy1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(9, 15)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ZOMBE1.png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Enemy2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(3, 12)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enemy2.png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Enemy3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400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(9, 12)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org.png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Enemy4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(3, 8)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enemy4.png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Enemy5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600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(9, 8)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enemy5.png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Final Boss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7474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1000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(6, 3)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finalboss.png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62000" y="4902200"/>
            <a:ext cx="1473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762000" y="6731000"/>
            <a:ext cx="4572000" cy="762000"/>
          </a:xfrm>
          <a:prstGeom prst="roundRect">
            <a:avLst>
              <a:gd name="adj" fmla="val 4000"/>
            </a:avLst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5" name="Text 4"/>
          <p:cNvSpPr/>
          <p:nvPr/>
        </p:nvSpPr>
        <p:spPr>
          <a:xfrm>
            <a:off x="965200" y="6781800"/>
            <a:ext cx="203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965200" y="7162800"/>
            <a:ext cx="4191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Ellenség | Egyedi textúrákkal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588000" y="6731000"/>
            <a:ext cx="4572000" cy="762000"/>
          </a:xfrm>
          <a:prstGeom prst="roundRect">
            <a:avLst>
              <a:gd name="adj" fmla="val 4000"/>
            </a:avLst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1" name="Text 7"/>
          <p:cNvSpPr/>
          <p:nvPr/>
        </p:nvSpPr>
        <p:spPr>
          <a:xfrm>
            <a:off x="5791200" y="6781800"/>
            <a:ext cx="203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1000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791200" y="7162800"/>
            <a:ext cx="4191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Főellenség HP | Progresszív nehézség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10414000" y="6731000"/>
            <a:ext cx="5080000" cy="762000"/>
          </a:xfrm>
          <a:prstGeom prst="roundRect">
            <a:avLst>
              <a:gd name="adj" fmla="val 4000"/>
            </a:avLst>
          </a:prstGeom>
          <a:solidFill>
            <a:srgbClr val="ECEFF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10"/>
          <p:cNvSpPr/>
          <p:nvPr/>
        </p:nvSpPr>
        <p:spPr>
          <a:xfrm>
            <a:off x="10617200" y="6781800"/>
            <a:ext cx="203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37474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π/4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0617200" y="7162800"/>
            <a:ext cx="469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Látószög határ | Sprite megjelenítés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62000" y="7696200"/>
            <a:ext cx="50800" cy="635000"/>
          </a:xfrm>
          <a:prstGeom prst="rect">
            <a:avLst/>
          </a:prstGeom>
          <a:solidFill>
            <a:srgbClr val="37474F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7" name="Text 13"/>
          <p:cNvSpPr/>
          <p:nvPr/>
        </p:nvSpPr>
        <p:spPr>
          <a:xfrm>
            <a:off x="965200" y="7696200"/>
            <a:ext cx="1447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62000" y="853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9" name="Text 15"/>
          <p:cNvSpPr/>
          <p:nvPr/>
        </p:nvSpPr>
        <p:spPr>
          <a:xfrm>
            <a:off x="762000" y="8610600"/>
            <a:ext cx="1016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3970000" y="86106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0A4A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</a:t>
            </a:r>
            <a:endParaRPr lang="en-US" sz="1600" dirty="0"/>
          </a:p>
        </p:txBody>
      </p:sp>
      <p:pic>
        <p:nvPicPr>
          <p:cNvPr id="22" name="Kép 21">
            <a:extLst>
              <a:ext uri="{FF2B5EF4-FFF2-40B4-BE49-F238E27FC236}">
                <a16:creationId xmlns:a16="http://schemas.microsoft.com/office/drawing/2014/main" id="{36561E91-E821-69A7-A884-BB11E6CA1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173" y="1358900"/>
            <a:ext cx="5959097" cy="393666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55600"/>
            <a:ext cx="1473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Kétféle 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támadási</a:t>
            </a: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 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mód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91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Lövési rendszer (shoot)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1549400"/>
            <a:ext cx="7112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Sebzés: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25 HP/ lövés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Találatdetektálás: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abs(angle_diff) &lt; 0.1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Vizuális effektek: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shoot_flash + gun_shake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Aktiválás: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bal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egérgom</a:t>
            </a:r>
            <a:r>
              <a:rPr lang="hu-HU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82000" y="11176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Közelharci rendszer (melee)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382000" y="1549400"/>
            <a:ext cx="7112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Sebzés: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50 HP / támadás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Hatótáv: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1.5 egység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Működés: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Minden élő ellenségre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Aktiválás: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 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billentyű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4470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762000" y="46736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HP rendszer és színváltás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2000" y="5105400"/>
            <a:ext cx="711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Alap HP: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250 (player_max_hp)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Színek: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Zöld, 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narancssárga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piros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HP bónusz: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Minden ellenség halálakor player_max_hp növekszik.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62000" y="853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762000" y="8610600"/>
            <a:ext cx="1016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3970000" y="86106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9A390BF5-DA3A-6723-21B0-CEB682BC5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2579" y="3520200"/>
            <a:ext cx="7410842" cy="494401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55600"/>
            <a:ext cx="1473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hu-HU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A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jtórendszer</a:t>
            </a: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 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és</a:t>
            </a: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 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zseblámpa</a:t>
            </a:r>
            <a:r>
              <a:rPr lang="en-US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 </a:t>
            </a:r>
            <a:r>
              <a:rPr lang="en-US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effekt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91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Ajtórendszer működése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1549400"/>
            <a:ext cx="7112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Adatszerkezet: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doors{(x,y): 0.0-1.0}, 4 állapot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Animáció: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DOOR_SPEED=0.03/frame, 0.8 felett járható.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Zárolt ajtók: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check_locked_doors() oldja fel az ellenség-halálakor.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Interakció: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 </a:t>
            </a:r>
            <a:r>
              <a:rPr lang="en-US" sz="18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billenty</a:t>
            </a:r>
            <a:r>
              <a:rPr lang="hu-HU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ű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toggle nyitás/zárás.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82000" y="11176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Zseblámpa effekt (draw_flashlight)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382000" y="1549400"/>
            <a:ext cx="7112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Sugár: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FLASHLIGHT_LENGTH=429 pixel.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Sötétedés: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t^1.7 gradiens, step=4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Hatás: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Középen világos, peremen sötét, SRCALPHA overlay.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Cél: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Korlátozott látótávolság, horror hangulat.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4470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12000" y="4673600"/>
          <a:ext cx="8382000" cy="2286000"/>
        </p:xfrm>
        <a:graphic>
          <a:graphicData uri="http://schemas.openxmlformats.org/drawingml/2006/table">
            <a:tbl>
              <a:tblPr/>
              <a:tblGrid>
                <a:gridCol w="293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3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Ellenség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Feloldja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Ajtó pozíció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Enemy1 halála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enemy2 ajtó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(4, 11) bal közép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Enemy3 halála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enemy4 ajtó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(4, 7) bal felső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Enemy5 halála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final_left + right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(5,5) és (6,5)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world_map[y][x]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 → 2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Zárolt → nyitható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762000" y="853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10"/>
          <p:cNvSpPr/>
          <p:nvPr/>
        </p:nvSpPr>
        <p:spPr>
          <a:xfrm>
            <a:off x="762000" y="8610600"/>
            <a:ext cx="1016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13970000" y="86106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0E4298F1-1FD0-E0FB-4D15-C58A2B0DC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898450"/>
            <a:ext cx="5749758" cy="433115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3048000"/>
            <a:ext cx="254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78909C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03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16000" y="3937000"/>
            <a:ext cx="1270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600" b="1" dirty="0">
                <a:solidFill>
                  <a:srgbClr val="FFFFFF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Játékarchitektúra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16000" y="4826000"/>
            <a:ext cx="1143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Menürendszer, game loop és renderelési folyamat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6000" y="5461000"/>
            <a:ext cx="2032000" cy="12700"/>
          </a:xfrm>
          <a:prstGeom prst="rect">
            <a:avLst/>
          </a:prstGeom>
          <a:solidFill>
            <a:srgbClr val="78909C"/>
          </a:solidFill>
          <a:ln/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55600"/>
            <a:ext cx="1473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hu-HU" sz="2600" b="1" dirty="0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A </a:t>
            </a:r>
            <a:r>
              <a:rPr lang="hu-HU" sz="2600" b="1" dirty="0" err="1">
                <a:solidFill>
                  <a:srgbClr val="263238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game_state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762000" y="91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762000" y="11176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Menürendszer (game_state)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1549400"/>
            <a:ext cx="711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"menu"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3 opció: singleplayer / multiplayer / exit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"game"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WASD + egér, ESC=menü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"multiplayer"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coming soon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Események:</a:t>
            </a:r>
            <a:r>
              <a:rPr lang="en-US" sz="18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Egér→lövés | F→közelharc | E→ajtó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82000" y="11176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Renderelési sorrend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382000" y="1549400"/>
            <a:ext cx="711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 screen.fill() </a:t>
            </a:r>
            <a:r>
              <a:rPr lang="hu-H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- 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háttér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törlés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2. </a:t>
            </a:r>
            <a:r>
              <a:rPr lang="en-US" sz="16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Ég</a:t>
            </a:r>
            <a:r>
              <a:rPr lang="en-US" sz="16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+ </a:t>
            </a:r>
            <a:r>
              <a:rPr lang="en-US" sz="1600" dirty="0" err="1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föld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 cast_rays() </a:t>
            </a:r>
            <a:r>
              <a:rPr lang="hu-H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- 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falak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és ajtók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4. check_locked_doors() </a:t>
            </a:r>
            <a:r>
              <a:rPr lang="hu-H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- 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ajtófeloldás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5. draw_enemy[1-5,final]() sprite-ok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6. draw_flashlight() + draw_hp_bar()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33333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7. Célkereszt + fegyver + shoot_flash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2000" y="42672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4000" y="4470400"/>
          <a:ext cx="8890000" cy="2286000"/>
        </p:xfrm>
        <a:graphic>
          <a:graphicData uri="http://schemas.openxmlformats.org/drawingml/2006/table">
            <a:tbl>
              <a:tblPr/>
              <a:tblGrid>
                <a:gridCol w="222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Ellenség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Sebzés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Cooldown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Találati %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HP bónusz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90 frame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50%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max HP 300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Enemy1-3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20-40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30 frame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50%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+50 HP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Enemy4-5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30-45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20-30 frame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50%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+50 HP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Final Boss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60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30 frame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50%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333333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n-US" sz="14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762000" y="8534400"/>
            <a:ext cx="14732000" cy="12700"/>
          </a:xfrm>
          <a:prstGeom prst="rect">
            <a:avLst/>
          </a:prstGeom>
          <a:solidFill>
            <a:srgbClr val="CFD8D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10"/>
          <p:cNvSpPr/>
          <p:nvPr/>
        </p:nvSpPr>
        <p:spPr>
          <a:xfrm>
            <a:off x="762000" y="8610600"/>
            <a:ext cx="1016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13970000" y="86106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endParaRPr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3277CF8B-D879-0651-00B9-F3D69D895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87" y="4089400"/>
            <a:ext cx="6036734" cy="4013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js7hbhawhzd4k/mnt/agents/output/horror_fps/images/2_Exploring_the_Ominous_Dark_Hallway.png"/>
          <p:cNvPicPr>
            <a:picLocks noChangeAspect="1"/>
          </p:cNvPicPr>
          <p:nvPr/>
        </p:nvPicPr>
        <p:blipFill>
          <a:blip r:embed="rId3"/>
          <a:srcRect l="111" r="111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263238">
              <a:alpha val="80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Text 1"/>
          <p:cNvSpPr/>
          <p:nvPr/>
        </p:nvSpPr>
        <p:spPr>
          <a:xfrm>
            <a:off x="1016000" y="3048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Sorts Mill Goudy" pitchFamily="34" charset="0"/>
                <a:ea typeface="Sorts Mill Goudy" pitchFamily="34" charset="-122"/>
                <a:cs typeface="Sorts Mill Goudy" pitchFamily="34" charset="-120"/>
              </a:rPr>
              <a:t>Köszönjük a figyelmet!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858000" y="4318000"/>
            <a:ext cx="2540000" cy="12700"/>
          </a:xfrm>
          <a:prstGeom prst="rect">
            <a:avLst/>
          </a:prstGeom>
          <a:solidFill>
            <a:srgbClr val="78909C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1016000" y="4572000"/>
            <a:ext cx="1422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Horror FPS </a:t>
            </a:r>
            <a:r>
              <a:rPr lang="en-US" sz="2200" dirty="0" err="1">
                <a:solidFill>
                  <a:srgbClr val="78909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Játék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8286750"/>
            <a:ext cx="142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hu-HU" sz="1600" dirty="0">
                <a:solidFill>
                  <a:srgbClr val="90A4A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Készítette: Kakucsi Norbert és </a:t>
            </a:r>
            <a:r>
              <a:rPr lang="hu-HU" sz="1600" dirty="0" err="1">
                <a:solidFill>
                  <a:srgbClr val="90A4A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Lokár</a:t>
            </a:r>
            <a:r>
              <a:rPr lang="hu-HU" sz="1600" dirty="0">
                <a:solidFill>
                  <a:srgbClr val="90A4A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Milán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6000" y="8128000"/>
            <a:ext cx="14224000" cy="12700"/>
          </a:xfrm>
          <a:prstGeom prst="rect">
            <a:avLst/>
          </a:prstGeom>
          <a:solidFill>
            <a:srgbClr val="78909C"/>
          </a:solidFill>
          <a:ln/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830</Words>
  <Application>Microsoft Office PowerPoint</Application>
  <PresentationFormat>Egyéni</PresentationFormat>
  <Paragraphs>195</Paragraphs>
  <Slides>12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Sorts Mill Goudy</vt:lpstr>
      <vt:lpstr>Arial</vt:lpstr>
      <vt:lpstr>Liter</vt:lpstr>
      <vt:lpstr>Custom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Horror FPS Játék — Raycasting Motor Pygame-ben</dc:title>
  <dc:subject>Horror FPS Játék — Raycasting Motor Pygame-ben</dc:subject>
  <dc:creator>Kimi</dc:creator>
  <cp:lastModifiedBy>O365 felhasználó</cp:lastModifiedBy>
  <cp:revision>25</cp:revision>
  <dcterms:created xsi:type="dcterms:W3CDTF">2026-05-28T21:01:32Z</dcterms:created>
  <dcterms:modified xsi:type="dcterms:W3CDTF">2026-05-31T16:21:01Z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{"Label":"Horror FPS Játék — Raycasting Motor Pygame-ben","ContentProducer":"001191110108MACG2KBH8F10000","ProduceID":"19e705c1-26d2-8539-8000-000038bf3f14","ReservedCode1":"","ContentPropagator":"001191110108MACG2KBH8F20000","PropagateID":"19e705c1-26d2-8539-8000-000038bf3f14","ReservedCode2":""}</vt:lpwstr>
  </property>
</Properties>
</file>
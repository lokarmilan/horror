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Liter" panose="020B0604020202020204" charset="0"/>
      <p:regular r:id="rId15"/>
    </p:embeddedFont>
    <p:embeddedFont>
      <p:font typeface="Sorts Mill Goudy" panose="020B0604020202020204" charset="0"/>
      <p:regular r:id="rId16"/>
    </p:embeddedFont>
  </p:embeddedFontLst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3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0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000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2286000"/>
            <a:ext cx="660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Horror FPS Játék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2"/>
          <p:cNvSpPr/>
          <p:nvPr/>
        </p:nvSpPr>
        <p:spPr>
          <a:xfrm>
            <a:off x="1016000" y="45720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Raycasting Motor Pygame-ben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921501A3-AFA3-FE16-6AEE-58CC65BA0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233" y="1233237"/>
            <a:ext cx="9658994" cy="64169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635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Tartalomjegyzék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6000" y="12065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1016000" y="1651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Technológiai alapok — Raycasting motor, pályarendszer, játékosvezérlés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2730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1016000" y="304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Játékmechanikák — Ellenségek, harcrendszer, ajtók és zseblámpa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4127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1016000" y="4445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37474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r>
              <a:rPr lang="en-US" sz="2200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　　Játékarchitektúra — Menürendszer, game loop, renderelési folyamat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5524500"/>
            <a:ext cx="14224000" cy="12700"/>
          </a:xfrm>
          <a:prstGeom prst="rect">
            <a:avLst/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1016000" y="5969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16000" y="8483600"/>
            <a:ext cx="14224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/>
          <p:nvPr/>
        </p:nvSpPr>
        <p:spPr>
          <a:xfrm>
            <a:off x="13970000" y="8534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Technológiai alapok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Raycasting motor, pályarendszer és játékosvezérlés működése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raycasting motor valós idejű 3D-síkbelítést biztosít DDA algoritmussal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pic>
        <p:nvPicPr>
          <p:cNvPr id="4" name="Image 0" descr="https://kimi-img.moonshot.cn/pub/slides/okc/js7hbhawhzd4k/mnt/agents/output/horror_fps/images/9_Rendering_Ray_Casting_The_Coding.png"/>
          <p:cNvPicPr>
            <a:picLocks noChangeAspect="1"/>
          </p:cNvPicPr>
          <p:nvPr/>
        </p:nvPicPr>
        <p:blipFill>
          <a:blip r:embed="rId3"/>
          <a:srcRect l="7464" r="7464"/>
          <a:stretch/>
        </p:blipFill>
        <p:spPr>
          <a:xfrm>
            <a:off x="762000" y="1117600"/>
            <a:ext cx="6096000" cy="3556000"/>
          </a:xfrm>
          <a:prstGeom prst="roundRect">
            <a:avLst>
              <a:gd name="adj" fmla="val 400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7112000" y="1117600"/>
            <a:ext cx="838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cast_rays()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720 sugár/frame, z-buffer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Textúrázás: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tex_coord alapján, pygame.transform.scale.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Textúrák: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1=fal (bwall.png), 2=ajtó (wood_door_01.png), 3=zárolt (locked_door.png).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Paraméterek: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FOV=π/3 (60°), 720×480 felbontás, 60 FPS cél.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4927600"/>
            <a:ext cx="457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7" name="Text 4"/>
          <p:cNvSpPr/>
          <p:nvPr/>
        </p:nvSpPr>
        <p:spPr>
          <a:xfrm>
            <a:off x="965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720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5200" y="5562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Sugár/frame | DDA algoritmus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8000" y="4927600"/>
            <a:ext cx="4572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7"/>
          <p:cNvSpPr/>
          <p:nvPr/>
        </p:nvSpPr>
        <p:spPr>
          <a:xfrm>
            <a:off x="5791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91200" y="55626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FOV (π/3 radián) | Látószög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414000" y="4927600"/>
            <a:ext cx="5080000" cy="1016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3" name="Text 10"/>
          <p:cNvSpPr/>
          <p:nvPr/>
        </p:nvSpPr>
        <p:spPr>
          <a:xfrm>
            <a:off x="10617200" y="4978400"/>
            <a:ext cx="254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617200" y="55626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FPS cél | clock.tick(60)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61722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7" name="Text 14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18×12-es NumPy pálya három szintes struktúrát és progresszív nehézséget biztosít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092200"/>
          <a:ext cx="14732000" cy="3301998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95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 értékek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Pozíciók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Megjegyzés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Alsó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Enemy, Enemy1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100, 200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(3,15), (9,15)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Kezdőszint, gyenge 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Középső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Enemy2, Enemy3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300, 400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(3,12), (9,12)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Közepes nehézség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Felső szint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Enemy4, Enemy5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500, 600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(3,8), (9,8)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Erős ellenségek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Főellenség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(6,3)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Minden ellenség legyőzése után nyílik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2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Játékos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250 (max 250)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(6, 16.5)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Kezdőpozíció, 250° szög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096000" y="4597400"/>
            <a:ext cx="939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Pálya reprezentáció: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world_map NumPy tömb, 1=fal, 0=üres, 2=ajtó, 3=zárolt.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Ütközés: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PLAYER_RADIUS=0.2, is_walkable()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Mozgás: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WASD + egér, can_move() ellenőrzés.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62000" y="7340600"/>
            <a:ext cx="50800" cy="88900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8" name="Text 4"/>
          <p:cNvSpPr/>
          <p:nvPr/>
        </p:nvSpPr>
        <p:spPr>
          <a:xfrm>
            <a:off x="965200" y="7340600"/>
            <a:ext cx="144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9" name="Shape 5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0" name="Text 6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1" name="Text 7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B6E3ABA5-39EE-68EC-CC04-93265807E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4574892"/>
            <a:ext cx="4905330" cy="32610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Játékmechanikák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Ellenségek, harcrendszer, ajtórendszer és zseblámpa effekt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Hét egyedi ellenség progresszív HP-értékekkel és sprite-alapú megjelenítéssel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1117600"/>
          <a:ext cx="8890000" cy="3556000"/>
        </p:xfrm>
        <a:graphic>
          <a:graphicData uri="http://schemas.openxmlformats.org/drawingml/2006/table">
            <a:tbl>
              <a:tblPr/>
              <a:tblGrid>
                <a:gridCol w="195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Pozíció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Textúra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enemy_idle.png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(9, 15)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ZOMBE1.png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(9, 12)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org.png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(3, 8)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(9, 8)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(6, 3)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finalboss.png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2000" y="49022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7" name="Shape 3"/>
          <p:cNvSpPr/>
          <p:nvPr/>
        </p:nvSpPr>
        <p:spPr>
          <a:xfrm>
            <a:off x="762000" y="6731000"/>
            <a:ext cx="4572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5" name="Text 4"/>
          <p:cNvSpPr/>
          <p:nvPr/>
        </p:nvSpPr>
        <p:spPr>
          <a:xfrm>
            <a:off x="965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65200" y="71628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Ellenség | Egyedi textúrákkal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588000" y="6731000"/>
            <a:ext cx="4572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1" name="Text 7"/>
          <p:cNvSpPr/>
          <p:nvPr/>
        </p:nvSpPr>
        <p:spPr>
          <a:xfrm>
            <a:off x="5791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1000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91200" y="71628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Főellenség HP | Progresszív nehézség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0414000" y="6731000"/>
            <a:ext cx="5080000" cy="762000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10617200" y="67818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3747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π/4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0617200" y="71628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Látószög határ | Sprite megjelenítés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62000" y="7696200"/>
            <a:ext cx="50800" cy="635000"/>
          </a:xfrm>
          <a:prstGeom prst="rect">
            <a:avLst/>
          </a:prstGeom>
          <a:solidFill>
            <a:srgbClr val="37474F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7" name="Text 13"/>
          <p:cNvSpPr/>
          <p:nvPr/>
        </p:nvSpPr>
        <p:spPr>
          <a:xfrm>
            <a:off x="965200" y="7696200"/>
            <a:ext cx="144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9" name="Text 15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pic>
        <p:nvPicPr>
          <p:cNvPr id="22" name="Kép 21">
            <a:extLst>
              <a:ext uri="{FF2B5EF4-FFF2-40B4-BE49-F238E27FC236}">
                <a16:creationId xmlns:a16="http://schemas.microsoft.com/office/drawing/2014/main" id="{36561E91-E821-69A7-A884-BB11E6CA1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73" y="1358900"/>
            <a:ext cx="5959097" cy="39366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Kétféle támadási mód — lövés sugárvetéses találattal és közelharc nagyobb sebzéssel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Lövési rendszer (shoot)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Sebzés: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 HP/ lövés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Találatdetektálás: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abs(angle_diff) &lt; 0.1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Vizuális effektek: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shoot_flash + gun_shake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Aktiválás: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 egérgomb (MOUSEBUTTONDOWN)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Közelharci rendszer (melee)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Sebzés: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50 HP / támadás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Hatótáv: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1.5 egység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Működés: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élő ellenségre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Aktiválás: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 billentyű (KEYDOWN K_f)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470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9" name="Text 7"/>
          <p:cNvSpPr/>
          <p:nvPr/>
        </p:nvSpPr>
        <p:spPr>
          <a:xfrm>
            <a:off x="762000" y="467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 rendszer és színváltás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105400"/>
            <a:ext cx="711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Alap HP: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250 (player_max_hp)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Színek: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Zöld (&gt;60%), narancssárga (30-60%), piros (&lt;30%).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 bónusz: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Minden ellenség halálakor player_max_hp növekszik.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5" name="Text 12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9A390BF5-DA3A-6723-21B0-CEB682BC5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579" y="3520200"/>
            <a:ext cx="7410842" cy="494401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Animált ajtórendszer és dinamikus zseblámpa effekt fokozza a horror hangulatot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Ajtórendszer működése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Adatszerkezet: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doors{(x,y): 0.0-1.0}, 4 állapot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Animáció: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DOOR_SPEED=0.03/frame, 0.8 felett járható.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Zárolt ajtók: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check_locked_doors() oldja fel az ellenség-halálakor.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Interakció: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 </a:t>
            </a:r>
            <a:r>
              <a:rPr lang="en-US" sz="1800" dirty="0" err="1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billenty</a:t>
            </a:r>
            <a:r>
              <a:rPr lang="hu-HU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ű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toggle nyitás/zárás.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Zseblámpa effekt (draw_flashlight)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Sugár: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FLASHLIGHT_LENGTH=429 pixel.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Sötétedés: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t^1.7 gradiens, step=4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Hatás: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Középen világos, peremen sötét, SRCALPHA overlay.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Cél: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Korlátozott látótávolság, horror hangulat.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470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0" y="4673600"/>
          <a:ext cx="8382000" cy="2286000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Feloldja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Ajtó pozíció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enemy2 ajtó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(4, 11) bal közép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Enemy3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 ajtó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(4, 7) bal felső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Enemy5 halála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final_left + right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(5,5) és (6,5)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world_map[y][x]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 → 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Zárolt → nyitható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0E4298F1-1FD0-E0FB-4D15-C58A2B0DC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98450"/>
            <a:ext cx="5749758" cy="43311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30480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78909C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16000" y="39370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Játékarchitektúra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48260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Menürendszer, game loop és renderelési folyamat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5461000"/>
            <a:ext cx="2032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556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b="1" dirty="0">
                <a:solidFill>
                  <a:srgbClr val="263238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Menürendszer három móddal és 60 FPS-es game loop biztosítja a folyamatos élményt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91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76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Menürendszer (game_state)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"menu"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3 opció: singleplayer / multiplayer / exit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"game"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WASD + egér, ESC=menü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"multiplayer"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coming soon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Események:</a:t>
            </a:r>
            <a:r>
              <a:rPr lang="en-US" sz="18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Egér→lövés | F→közelharc | E→ajtó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117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Renderelési sorrend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5494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screen.fill() háttér törlés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Ég (70,120,200) + föld (50,50,50)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cast_rays() falak és ajtók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check_locked_doors() ajtófeloldás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draw_enemy[1-5,final]() sprite-ok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draw_flashlight() + draw_hp_bar()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333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 Célkereszt + fegyver + shoot_flash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2672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0" y="4470400"/>
          <a:ext cx="8890000" cy="2286000"/>
        </p:xfrm>
        <a:graphic>
          <a:graphicData uri="http://schemas.openxmlformats.org/drawingml/2006/table">
            <a:tbl>
              <a:tblPr/>
              <a:tblGrid>
                <a:gridCol w="222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Ellenség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Sebzés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Cooldown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Találati 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HP bónusz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90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 HP 300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Enemy1-3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20-40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+50 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Enemy4-5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30-45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20-30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+50 HP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Final Boss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30 frame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62000" y="8534400"/>
            <a:ext cx="14732000" cy="12700"/>
          </a:xfrm>
          <a:prstGeom prst="rect">
            <a:avLst/>
          </a:prstGeom>
          <a:solidFill>
            <a:srgbClr val="CFD8D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14" name="Text 10"/>
          <p:cNvSpPr/>
          <p:nvPr/>
        </p:nvSpPr>
        <p:spPr>
          <a:xfrm>
            <a:off x="762000" y="86106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sp>
        <p:nvSpPr>
          <p:cNvPr id="15" name="Text 11"/>
          <p:cNvSpPr/>
          <p:nvPr/>
        </p:nvSpPr>
        <p:spPr>
          <a:xfrm>
            <a:off x="13970000" y="86106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endParaRPr/>
          </a:p>
        </p:txBody>
      </p:sp>
      <p:pic>
        <p:nvPicPr>
          <p:cNvPr id="11" name="Kép 10">
            <a:extLst>
              <a:ext uri="{FF2B5EF4-FFF2-40B4-BE49-F238E27FC236}">
                <a16:creationId xmlns:a16="http://schemas.microsoft.com/office/drawing/2014/main" id="{3277CF8B-D879-0651-00B9-F3D69D89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887" y="4089400"/>
            <a:ext cx="6036734" cy="401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s7hbhawhzd4k/mnt/agents/output/horror_fps/images/2_Exploring_the_Ominous_Dark_Hallway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63238">
              <a:alpha val="80000"/>
            </a:srgbClr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4" name="Text 1"/>
          <p:cNvSpPr/>
          <p:nvPr/>
        </p:nvSpPr>
        <p:spPr>
          <a:xfrm>
            <a:off x="1016000" y="3048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Köszönjük a figyelmet!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858000" y="4318000"/>
            <a:ext cx="2540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  <p:sp>
        <p:nvSpPr>
          <p:cNvPr id="6" name="Text 3"/>
          <p:cNvSpPr/>
          <p:nvPr/>
        </p:nvSpPr>
        <p:spPr>
          <a:xfrm>
            <a:off x="1016000" y="4572000"/>
            <a:ext cx="142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Horror FPS </a:t>
            </a:r>
            <a:r>
              <a:rPr lang="en-US" sz="2200" dirty="0" err="1">
                <a:solidFill>
                  <a:srgbClr val="78909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Játék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828675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hu-HU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Készítette: Kakucsi Norbert és </a:t>
            </a:r>
            <a:r>
              <a:rPr lang="hu-HU" sz="1600" dirty="0" err="1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Lokár</a:t>
            </a:r>
            <a:r>
              <a:rPr lang="hu-HU" sz="1600" dirty="0">
                <a:solidFill>
                  <a:srgbClr val="90A4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Milán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8128000"/>
            <a:ext cx="14224000" cy="1270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908</Words>
  <Application>Microsoft Office PowerPoint</Application>
  <PresentationFormat>Egyéni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Sorts Mill Goudy</vt:lpstr>
      <vt:lpstr>Liter</vt:lpstr>
      <vt:lpstr>Arial</vt:lpstr>
      <vt:lpstr>Custom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Horror FPS Játék — Raycasting Motor Pygame-ben</dc:title>
  <dc:subject>Horror FPS Játék — Raycasting Motor Pygame-ben</dc:subject>
  <dc:creator>Kimi</dc:creator>
  <cp:lastModifiedBy>O365 felhasználó</cp:lastModifiedBy>
  <cp:revision>9</cp:revision>
  <dcterms:created xsi:type="dcterms:W3CDTF">2026-05-28T21:01:32Z</dcterms:created>
  <dcterms:modified xsi:type="dcterms:W3CDTF">2026-05-31T11:34:23Z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{"Label":"Horror FPS Játék — Raycasting Motor Pygame-ben","ContentProducer":"001191110108MACG2KBH8F10000","ProduceID":"19e705c1-26d2-8539-8000-000038bf3f14","ReservedCode1":"","ContentPropagator":"001191110108MACG2KBH8F20000","PropagateID":"19e705c1-26d2-8539-8000-000038bf3f14","ReservedCode2":""}</vt:lpwstr>
  </property>
</Properties>
</file>
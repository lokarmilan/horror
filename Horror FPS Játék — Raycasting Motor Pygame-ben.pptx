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Sorts Mill Goudy" charset="-122" pitchFamily="34"/>
      <p:regular r:id="rId19"/>
    </p:embeddedFont>
    <p:embeddedFont>
      <p:font typeface="Liter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s7hbhawhzd4k/mnt/agents/output/horror_fps/images/3_This_retro_FPS_inspired_by_Wolfenstein.png">    </p:cNvPr>
          <p:cNvPicPr>
            <a:picLocks noChangeAspect="1"/>
          </p:cNvPicPr>
          <p:nvPr/>
        </p:nvPicPr>
        <p:blipFill>
          <a:blip r:embed="rId1"/>
          <a:srcRect l="8482" r="8482" t="0" b="0"/>
          <a:stretch/>
        </p:blipFill>
        <p:spPr>
          <a:xfrm>
            <a:off x="7620000" y="1016000"/>
            <a:ext cx="7874000" cy="7112000"/>
          </a:xfrm>
          <a:prstGeom prst="roundRect">
            <a:avLst>
              <a:gd name="adj" fmla="val 40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1016000" y="22860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Horror FPS Játék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16000" y="4318000"/>
            <a:ext cx="2540000" cy="12700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4572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Raycasting Motor Pygame-ben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16000" y="5334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Egyedi raycasting FPS horror játék Pythonban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584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 | Projekt Bemutató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8128000"/>
            <a:ext cx="14224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82804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+ Pygame + NumPy | Projektmunka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Tartalomjegyzék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16000" y="1206500"/>
            <a:ext cx="14224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651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3747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01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　Technológiai alapok — Raycasting motor, pályarendszer, játékosvezérlés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2730500"/>
            <a:ext cx="14224000" cy="127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3048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3747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02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　Játékmechanikák — Ellenségek, harcrendszer, ajtók és zseblámpa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4127500"/>
            <a:ext cx="14224000" cy="127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4445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3747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03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　Játékarchitektúra — Menürendszer, game loop, renderelési folyamat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5524500"/>
            <a:ext cx="14224000" cy="127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5969000"/>
            <a:ext cx="1422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bemutató a horrorgame.py projektfájl alapján készült, amely egy teljes raycasting alapú horror FPS játékot valósít meg Pythonban, Pygame és NumPy könyvtárakkal. A prezentáció átfogja a renderelési motort, a játékmechanikákat és a szoftverarchitektúrát.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8483600"/>
            <a:ext cx="14224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0" y="85344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78909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6000" y="3937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Technológiai alapok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4826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Raycasting motor, pályarendszer és játékosvezérlés működése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5461000"/>
            <a:ext cx="2032000" cy="12700"/>
          </a:xfrm>
          <a:prstGeom prst="rect">
            <a:avLst/>
          </a:prstGeom>
          <a:solidFill>
            <a:srgbClr val="78909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raycasting motor valós idejű 3D-síkbelítést biztosít DDA algoritmussal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pic>
        <p:nvPicPr>
          <p:cNvPr id="4" name="Image 0" descr="https://kimi-img.moonshot.cn/pub/slides/okc/js7hbhawhzd4k/mnt/agents/output/horror_fps/images/9_Rendering_Ray_Casting_The_Coding.png">    </p:cNvPr>
          <p:cNvPicPr>
            <a:picLocks noChangeAspect="1"/>
          </p:cNvPicPr>
          <p:nvPr/>
        </p:nvPicPr>
        <p:blipFill>
          <a:blip r:embed="rId1"/>
          <a:srcRect l="7464" r="7464" t="0" b="0"/>
          <a:stretch/>
        </p:blipFill>
        <p:spPr>
          <a:xfrm>
            <a:off x="762000" y="1117600"/>
            <a:ext cx="6096000" cy="3556000"/>
          </a:xfrm>
          <a:prstGeom prst="roundRect">
            <a:avLst>
              <a:gd name="adj" fmla="val 4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7112000" y="1117600"/>
            <a:ext cx="838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cast_rays()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függvény: 720 sugár/frame, DDA algoritmus, z-buffer mélységi értékekkel.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Textúrázás: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oszloponként, tex_coord alapján, pygame.transform.scale.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Textúrák: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1=fal (bwall.png), 2=ajtó (wood_door_01.png), 3=zárolt (locked_door.png).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Paraméterek: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FOV=π/3 (60°), 720×480 felbontás, 60 FPS cél.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4927600"/>
            <a:ext cx="4572000" cy="1016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7" name="Text 4"/>
          <p:cNvSpPr/>
          <p:nvPr/>
        </p:nvSpPr>
        <p:spPr>
          <a:xfrm>
            <a:off x="965200" y="49784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720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5200" y="55626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Sugár/frame | DDA algoritmus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88000" y="4927600"/>
            <a:ext cx="4572000" cy="1016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0" name="Text 7"/>
          <p:cNvSpPr/>
          <p:nvPr/>
        </p:nvSpPr>
        <p:spPr>
          <a:xfrm>
            <a:off x="5791200" y="49784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91200" y="55626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FOV (π/3 radián) | Látószög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414000" y="4927600"/>
            <a:ext cx="5080000" cy="1016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3" name="Text 10"/>
          <p:cNvSpPr/>
          <p:nvPr/>
        </p:nvSpPr>
        <p:spPr>
          <a:xfrm>
            <a:off x="10617200" y="49784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617200" y="5562600"/>
            <a:ext cx="469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FPS cél | clock.tick(60)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2000" y="6172200"/>
            <a:ext cx="147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DDA algoritmus működése: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sugár irányából számított delta_dist_x és delta_dist_y értékekkel lépésről lépésre halad a pályán. A side_dist változók tárolják a következő x és y grid-vonal távolságát. A kisebb távolság irányába lépve dönti el, hogy melyik faloldalt találja el a sugár. A z_buffer tömb minden pixeloszlophoz tárolja a legközelebbi fal távolságát, amit az ellenség-sprite-ok takarásának számításához használ a draw_enemy() függvény.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7" name="Text 14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Forrás: horrorgame.py — cast_rays() függvény (sor 238-358)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18×12-es NumPy pálya három szintes struktúrát és progresszív nehézséget biztosít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092200"/>
          <a:ext cx="14732000" cy="3302000"/>
        </p:xfrm>
        <a:graphic>
          <a:graphicData uri="http://schemas.openxmlformats.org/drawingml/2006/table">
            <a:tbl>
              <a:tblPr/>
              <a:tblGrid>
                <a:gridCol w="2209800"/>
                <a:gridCol w="2946400"/>
                <a:gridCol w="2946400"/>
                <a:gridCol w="2946400"/>
                <a:gridCol w="3683000"/>
              </a:tblGrid>
              <a:tr h="560958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Szint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Ellenségek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HP értékek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Pozíciók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Megjegyzés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5482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Alsó szint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Enemy, Enemy1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100, 200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(3,15), (9,15)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Kezdőszint, gyenge ellenségek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2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Középső szint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Enemy2, Enemy3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300, 400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(3,12), (9,12)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Közepes nehézség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5482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Felső szint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Enemy4, Enemy5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500, 600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(3,8), (9,8)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Erős ellenségek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2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Főellenség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 Boss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(6,3)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Minden ellenség legyőzése után nyílik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5482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Játékos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250 (max 250)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(6, 16.5)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Kezdőpozíció, 250° szög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https://kimi-img.moonshot.cn/pub/slides/okc/js7hbhawhzd4k/mnt/agents/output/horror_fps/images/10_159_Dungeon_Corridor_Stock_Vectors.png">    </p:cNvPr>
          <p:cNvPicPr>
            <a:picLocks noChangeAspect="1"/>
          </p:cNvPicPr>
          <p:nvPr/>
        </p:nvPicPr>
        <p:blipFill>
          <a:blip r:embed="rId1"/>
          <a:srcRect l="5000" r="5000" t="0" b="0"/>
          <a:stretch/>
        </p:blipFill>
        <p:spPr>
          <a:xfrm>
            <a:off x="762000" y="4597400"/>
            <a:ext cx="5080000" cy="2540000"/>
          </a:xfrm>
          <a:prstGeom prst="roundRect">
            <a:avLst>
              <a:gd name="adj" fmla="val 4000"/>
            </a:avLst>
          </a:prstGeom>
        </p:spPr>
      </p:pic>
      <p:sp>
        <p:nvSpPr>
          <p:cNvPr id="6" name="Text 2"/>
          <p:cNvSpPr/>
          <p:nvPr/>
        </p:nvSpPr>
        <p:spPr>
          <a:xfrm>
            <a:off x="6096000" y="4597400"/>
            <a:ext cx="939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Pálya reprezentáció: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world_map NumPy tömb, 1=fal, 0=üres, 2=ajtó, 3=zárolt.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Ütközés: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PLAYER_RADIUS=0.2, is_walkable() ellenőrzi a falakat és ajtókat.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Mozgás: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WASD + egér (dx*0.002 szögváltoztatás), can_move() négy irányú ellenőrzés.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762000" y="7340600"/>
            <a:ext cx="50800" cy="8890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8" name="Text 4"/>
          <p:cNvSpPr/>
          <p:nvPr/>
        </p:nvSpPr>
        <p:spPr>
          <a:xfrm>
            <a:off x="965200" y="7340600"/>
            <a:ext cx="144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Progresszív nehézség: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Az ellenségek HP-ja szintenként duplázódik (100→200→300→400→500→600), a főellenség 1000 HP-val rendelkezik. A zárolt ajtók rendszere biztosítja, hogy a játékos nem tudja kikerülni a harcokat.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0" name="Text 6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Forrás: horrorgame.py — world_map, is_walkable(), can_move() (sor 20-178)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78909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6000" y="3937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Játékmechanikák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4826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Ellenségek, harcrendszer, ajtórendszer és zseblámpa effekt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5461000"/>
            <a:ext cx="2032000" cy="12700"/>
          </a:xfrm>
          <a:prstGeom prst="rect">
            <a:avLst/>
          </a:prstGeom>
          <a:solidFill>
            <a:srgbClr val="78909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Hét egyedi ellenség progresszív HP-értékekkel és sprite-alapú megjelenítéssel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pic>
        <p:nvPicPr>
          <p:cNvPr id="4" name="Image 0" descr="https://kimi-img.moonshot.cn/pub/slides/okc/js7hbhawhzd4k/mnt/agents/output/horror_fps/images/6_A_pixelated_first_person_view_in.png">    </p:cNvPr>
          <p:cNvPicPr>
            <a:picLocks noChangeAspect="1"/>
          </p:cNvPicPr>
          <p:nvPr/>
        </p:nvPicPr>
        <p:blipFill>
          <a:blip r:embed="rId1"/>
          <a:srcRect l="0" r="0" t="4545" b="4545"/>
          <a:stretch/>
        </p:blipFill>
        <p:spPr>
          <a:xfrm>
            <a:off x="762000" y="1117600"/>
            <a:ext cx="5588000" cy="3556000"/>
          </a:xfrm>
          <a:prstGeom prst="roundRect">
            <a:avLst>
              <a:gd name="adj" fmla="val 4000"/>
            </a:avLst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0" y="1117600"/>
          <a:ext cx="8890000" cy="3556000"/>
        </p:xfrm>
        <a:graphic>
          <a:graphicData uri="http://schemas.openxmlformats.org/drawingml/2006/table">
            <a:tbl>
              <a:tblPr/>
              <a:tblGrid>
                <a:gridCol w="1955800"/>
                <a:gridCol w="1244600"/>
                <a:gridCol w="2844800"/>
                <a:gridCol w="28448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Ellenség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Pozíció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Textúra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(3, 15)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enemy_idle.png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(9, 15)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ZOMBE1.png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(3, 12)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enemy2.png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(9, 12)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org.png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(3, 8)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enemy4.png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(9, 8)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enemy5.png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 Boss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(6, 3)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finalboss.png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62000" y="49022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Sprite megjelenítés: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Az ellenségek draw_enemy() függvénnyel jelennek meg. A távolságból számított méret: min(800/(dist+0.1), HEIGHT). A z_buffer alapján takarás — ha dist &gt; z_buffer[screen_x], az ellenség nem látható. A látószög-ellenőrzés: abs(angle) &gt; π/4 esetén nem renderelődik. Minden ellenség felett dinamikus HP-csík jelenik meg (draw_enemy_hp_bar): zöld (&gt;60%), narancssárga (30-60%), piros (&lt;30%).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762000" y="6731000"/>
            <a:ext cx="4572000" cy="762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8" name="Text 4"/>
          <p:cNvSpPr/>
          <p:nvPr/>
        </p:nvSpPr>
        <p:spPr>
          <a:xfrm>
            <a:off x="965200" y="67818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65200" y="71628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Ellenség | Egyedi textúrákkal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588000" y="6731000"/>
            <a:ext cx="4572000" cy="762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1" name="Text 7"/>
          <p:cNvSpPr/>
          <p:nvPr/>
        </p:nvSpPr>
        <p:spPr>
          <a:xfrm>
            <a:off x="5791200" y="67818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1000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791200" y="71628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Főellenség HP | Progresszív nehézség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0414000" y="6731000"/>
            <a:ext cx="5080000" cy="762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</p:sp>
      <p:sp>
        <p:nvSpPr>
          <p:cNvPr id="14" name="Text 10"/>
          <p:cNvSpPr/>
          <p:nvPr/>
        </p:nvSpPr>
        <p:spPr>
          <a:xfrm>
            <a:off x="10617200" y="67818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π/4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0617200" y="7162800"/>
            <a:ext cx="469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Látószög határ | Sprite megjelenítés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62000" y="7696200"/>
            <a:ext cx="50800" cy="6350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7" name="Text 13"/>
          <p:cNvSpPr/>
          <p:nvPr/>
        </p:nvSpPr>
        <p:spPr>
          <a:xfrm>
            <a:off x="965200" y="7696200"/>
            <a:ext cx="1447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Támadó animáció: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Minden ellenségnek van idle és shoot állapota. Támadáskor enemy_state="shoot", és enemy_shoot_img-re vált a textúra, 10 frame-ig.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9" name="Text 15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Forrás: horrorgame.py — draw_enemy(), draw_enemy_hp_bar() (sor 361-892)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Kétféle támadási mód — lövés sugárvetéses találattal és közelharc nagyobb sebzéssel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Lövési rendszer (shoot)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549400"/>
            <a:ext cx="711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Sebzés: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25 HP/ lövés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Találatdetektálás: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abs(angle_diff) &lt; 0.1, majd sugárvetés fal-ellenőrzés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Vizuális effektek: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shoot_flash=5, gun_shake random rezgés, gun sprite váltás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Aktiválás: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 egérgomb (MOUSEBUTTONDOWN)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Közelharci rendszer (melee)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549400"/>
            <a:ext cx="711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Sebzés: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50 HP / támadás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Hatótáv: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1.5 egység (dist &lt; 1.5)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Működés: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Minden élő ellenségre ellenőrzi a távolságot, sebez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Aktiválás: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 billentyű (KEYDOWN K_f)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470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4673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HP rendszer és színváltás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1054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Alap HP: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250 (player_max_hp), draw_hp_bar() 300px széles sáv.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Színek: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Zöld (&gt;60%), narancssárga (30-60%), piros (&lt;30%).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HP bónusz: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Minden ellenség halálakor player_max_hp növekszik.</a:t>
            </a:r>
            <a:endParaRPr lang="en-US" sz="1600" dirty="0"/>
          </a:p>
        </p:txBody>
      </p:sp>
      <p:pic>
        <p:nvPicPr>
          <p:cNvPr id="11" name="Image 0" descr="https://kimi-img.moonshot.cn/pub/slides/okc/js7hbhawhzd4k/mnt/agents/output/horror_fps/images/3_This_retro_FPS_inspired_by_Wolfenstein.png">    </p:cNvPr>
          <p:cNvPicPr>
            <a:picLocks noChangeAspect="1"/>
          </p:cNvPicPr>
          <p:nvPr/>
        </p:nvPicPr>
        <p:blipFill>
          <a:blip r:embed="rId1"/>
          <a:srcRect l="0" r="0" t="30000" b="20000"/>
          <a:stretch/>
        </p:blipFill>
        <p:spPr>
          <a:xfrm>
            <a:off x="8382000" y="4673600"/>
            <a:ext cx="7112000" cy="2032000"/>
          </a:xfrm>
          <a:prstGeom prst="roundRect">
            <a:avLst>
              <a:gd name="adj" fmla="val 4000"/>
            </a:avLst>
          </a:prstGeom>
        </p:spPr>
      </p:pic>
      <p:sp>
        <p:nvSpPr>
          <p:cNvPr id="12" name="Shape 9"/>
          <p:cNvSpPr/>
          <p:nvPr/>
        </p:nvSpPr>
        <p:spPr>
          <a:xfrm>
            <a:off x="762000" y="6934200"/>
            <a:ext cx="50800" cy="7874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3" name="Text 10"/>
          <p:cNvSpPr/>
          <p:nvPr/>
        </p:nvSpPr>
        <p:spPr>
          <a:xfrm>
            <a:off x="965200" y="6934200"/>
            <a:ext cx="14478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Stratégiai döntés: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lövés biztonságosabb távolról (25 sebzés), a közelharc kétszeres sebzést okoz (50), de veszélyesebb. A játékosnak mérlegelnie kell a támadási módot az ellenség HP-ja és saját állapota alapján.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5" name="Text 12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Forrás: horrorgame.py — shoot(), melee_attack(), draw_hp_bar() (sor 394-932)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Animált ajtórendszer és dinamikus zseblámpa effekt fokozza a horror hangulatot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Ajtórendszer működése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549400"/>
            <a:ext cx="711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Adatszerkezet: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doors{(x,y): 0.0-1.0}, door_states 4 állapot.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Animáció: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DOOR_SPEED=0.03/frame, 0.8 felett járható.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Zárolt ajtók: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check_locked_doors() oldja fel az ellenség-halálakor.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Interakció: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 billentyú, toggle nyitás/zárás.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Zseblámpa effekt (draw_flashlight)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549400"/>
            <a:ext cx="711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Sugár: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FLASHLIGHT_LENGTH=429 pixel.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Sötétedés: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t^1.7 + 70*(1-t)^4 boost, step=4.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Hatás: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Középen világos, peremen sötét, SRCALPHA overlay.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Cél: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Korlátozott látótávolság, horror hangulat.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470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pic>
        <p:nvPicPr>
          <p:cNvPr id="9" name="Image 0" descr="https://kimi-img.moonshot.cn/pub/slides/okc/js7hbhawhzd4k/mnt/agents/output/horror_fps/images/2_Exploring_the_Ominous_Dark_Hallway.png">    </p:cNvPr>
          <p:cNvPicPr>
            <a:picLocks noChangeAspect="1"/>
          </p:cNvPicPr>
          <p:nvPr/>
        </p:nvPicPr>
        <p:blipFill>
          <a:blip r:embed="rId1"/>
          <a:srcRect l="0" r="0" t="16592" b="16592"/>
          <a:stretch/>
        </p:blipFill>
        <p:spPr>
          <a:xfrm>
            <a:off x="762000" y="4673600"/>
            <a:ext cx="6096000" cy="2286000"/>
          </a:xfrm>
          <a:prstGeom prst="roundRect">
            <a:avLst>
              <a:gd name="adj" fmla="val 4000"/>
            </a:avLst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2000" y="4673600"/>
          <a:ext cx="8382000" cy="2286000"/>
        </p:xfrm>
        <a:graphic>
          <a:graphicData uri="http://schemas.openxmlformats.org/drawingml/2006/table">
            <a:tbl>
              <a:tblPr/>
              <a:tblGrid>
                <a:gridCol w="2933700"/>
                <a:gridCol w="2514600"/>
                <a:gridCol w="29337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Ellenség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Feloldja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Ajtó pozíció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Enemy1 halála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enemy2 ajtó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(4, 11) bal közép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Enemy3 halála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enemy4 ajtó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(4, 7) bal felső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Enemy5 halála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final_left + right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(5,5) és (6,5)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world_map[y][x]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 → 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Zárolt → nyitható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62000" y="7188200"/>
            <a:ext cx="50800" cy="7874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2" name="Text 8"/>
          <p:cNvSpPr/>
          <p:nvPr/>
        </p:nvSpPr>
        <p:spPr>
          <a:xfrm>
            <a:off x="965200" y="7188200"/>
            <a:ext cx="14478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Progresszív ajtófeloldás: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játékos az alsó szintről indul, és minden szint teljesítése után automatikusan kinyílik a következő szintre vezető ajtó. A főellenség szobája csak az utolsó ellenség legyőzése után válik elérhetővé.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4" name="Text 10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Forrás: horrorgame.py — update_doors(), check_locked_doors(), draw_flashlight() (sor 180-152)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78909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6000" y="3937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Játékarchitektúra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4826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Menürendszer, game loop és renderelési folyamat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5461000"/>
            <a:ext cx="2032000" cy="12700"/>
          </a:xfrm>
          <a:prstGeom prst="rect">
            <a:avLst/>
          </a:prstGeom>
          <a:solidFill>
            <a:srgbClr val="78909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Menürendszer három móddal és 60 FPS-es game loop biztosítja a folyamatos élményt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Menürendszer (game_state)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5494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"menu"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3 opció: singleplayer, multiplayer, exit. Nyíl+Enter, kiemelt sárga.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"game"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Teljes játékmenet WASD+egér vezérléssel, ESC=menü.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"multiplayer"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"coming soon" üzenet (placeholder).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Események: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MOUSEBUTTONDOWN→shoot, K_f→melee, K_e→ajtó.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Renderelési sorrend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5494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screen.fill() háttér törlés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Ég (70,120,200) + föld (50,50,50)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cast_rays() falak és ajtók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check_locked_doors() ajtófeloldás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draw_enemy[1-5,final]() sprite-ok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draw_flashlight() + draw_hp_bar()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 Célkereszt + fegyver + shoot_flash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2672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pic>
        <p:nvPicPr>
          <p:cNvPr id="9" name="Image 0" descr="https://kimi-img.moonshot.cn/pub/slides/okc/js7hbhawhzd4k/mnt/agents/output/horror_fps/images/7_Instead_of_a_flashlight_the_camera.png">    </p:cNvPr>
          <p:cNvPicPr>
            <a:picLocks noChangeAspect="1"/>
          </p:cNvPicPr>
          <p:nvPr/>
        </p:nvPicPr>
        <p:blipFill>
          <a:blip r:embed="rId1"/>
          <a:srcRect l="0" r="0" t="13636" b="13636"/>
          <a:stretch/>
        </p:blipFill>
        <p:spPr>
          <a:xfrm>
            <a:off x="762000" y="4470400"/>
            <a:ext cx="5588000" cy="2286000"/>
          </a:xfrm>
          <a:prstGeom prst="roundRect">
            <a:avLst>
              <a:gd name="adj" fmla="val 4000"/>
            </a:avLst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0" y="4470400"/>
          <a:ext cx="8890000" cy="2286000"/>
        </p:xfrm>
        <a:graphic>
          <a:graphicData uri="http://schemas.openxmlformats.org/drawingml/2006/table">
            <a:tbl>
              <a:tblPr/>
              <a:tblGrid>
                <a:gridCol w="2222500"/>
                <a:gridCol w="1600200"/>
                <a:gridCol w="1600200"/>
                <a:gridCol w="1778000"/>
                <a:gridCol w="16891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Ellenség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Sebzés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Cooldown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Találati 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HP bónusz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90 frame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max HP 300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Enemy1-3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20-40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 frame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+50 HP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Enemy4-5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30-45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20-30 frame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+50 HP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 Boss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 frame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62000" y="6985000"/>
            <a:ext cx="50800" cy="7874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2" name="Text 8"/>
          <p:cNvSpPr/>
          <p:nvPr/>
        </p:nvSpPr>
        <p:spPr>
          <a:xfrm>
            <a:off x="965200" y="6985000"/>
            <a:ext cx="14478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loop: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while running → clock.tick(60) → event kezelés → logika → render → pygame.display.flip(). A gun_shake_x/y 0.85-szörös fade-outtal csillapodik frame-ről frame-re.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4" name="Text 10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Forrás: horrorgame.py — fő game loop (sor 1247-1467)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s7hbhawhzd4k/mnt/agents/output/horror_fps/images/2_Exploring_the_Ominous_Dark_Hallway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263238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016000" y="3048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Köszönjük a figyelmet!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858000" y="4318000"/>
            <a:ext cx="2540000" cy="12700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572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Horror FPS Játék — Raycasting Motor Pygame-ben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5334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+ Pygame + NumPy | Egyedi raycasting renderelő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5969000"/>
            <a:ext cx="142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Projektmunka 2025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16000" y="8128000"/>
            <a:ext cx="14224000" cy="12700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10" name="Text 7"/>
          <p:cNvSpPr/>
          <p:nvPr/>
        </p:nvSpPr>
        <p:spPr>
          <a:xfrm>
            <a:off x="1016000" y="82804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horrorgame.py | Raycasting | Pygame | NumPy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Horror FPS Játék — Raycasting Motor Pygame-ben</dc:title>
  <dc:subject>Horror FPS Játék — Raycasting Motor Pygame-ben</dc:subject>
  <dc:creator>Kimi</dc:creator>
  <cp:lastModifiedBy>Kimi</cp:lastModifiedBy>
  <cp:revision>1</cp:revision>
  <dcterms:created xsi:type="dcterms:W3CDTF">2026-05-28T21:01:32Z</dcterms:created>
  <dcterms:modified xsi:type="dcterms:W3CDTF">2026-05-28T21:01:32Z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{"Label":"Horror FPS Játék — Raycasting Motor Pygame-ben","ContentProducer":"001191110108MACG2KBH8F10000","ProduceID":"19e705c1-26d2-8539-8000-000038bf3f14","ReservedCode1":"","ContentPropagator":"001191110108MACG2KBH8F20000","PropagateID":"19e705c1-26d2-8539-8000-000038bf3f14","ReservedCode2":""}</vt:lpwstr>
  </property>
</Properties>
</file>